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9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01C6F7-CE0E-4699-B2B5-CC46D74B888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3D83EA-7AC9-4160-A684-41B72E9586D6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Two ways of Extractive Summarization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6E82A1-5426-4798-BAC4-2FE177500A4F}" type="parTrans" cxnId="{CBDC208B-4462-47FA-9265-FF01A9478523}">
      <dgm:prSet/>
      <dgm:spPr/>
      <dgm:t>
        <a:bodyPr/>
        <a:lstStyle/>
        <a:p>
          <a:endParaRPr lang="en-US"/>
        </a:p>
      </dgm:t>
    </dgm:pt>
    <dgm:pt modelId="{CB725AFF-7E76-4E94-9F38-1AE7F4A36DA9}" type="sibTrans" cxnId="{CBDC208B-4462-47FA-9265-FF01A9478523}">
      <dgm:prSet/>
      <dgm:spPr/>
      <dgm:t>
        <a:bodyPr/>
        <a:lstStyle/>
        <a:p>
          <a:endParaRPr lang="en-US"/>
        </a:p>
      </dgm:t>
    </dgm:pt>
    <dgm:pt modelId="{2F736CA2-C2BA-4073-BCFC-D53643FE8424}">
      <dgm:prSet/>
      <dgm:spPr/>
      <dgm:t>
        <a:bodyPr/>
        <a:lstStyle/>
        <a:p>
          <a:r>
            <a:rPr lang="en-US" b="1" dirty="0"/>
            <a:t>TF-IDF-based</a:t>
          </a:r>
          <a:endParaRPr lang="en-US" dirty="0"/>
        </a:p>
      </dgm:t>
    </dgm:pt>
    <dgm:pt modelId="{D7FD59AA-6F7F-4904-B4E7-8A09C9F4F072}" type="parTrans" cxnId="{CDBB9533-0BAB-4E29-A3EF-17C4365D31EB}">
      <dgm:prSet/>
      <dgm:spPr/>
      <dgm:t>
        <a:bodyPr/>
        <a:lstStyle/>
        <a:p>
          <a:endParaRPr lang="en-US"/>
        </a:p>
      </dgm:t>
    </dgm:pt>
    <dgm:pt modelId="{245818FA-60B1-4DDC-943E-4615EC89AB91}" type="sibTrans" cxnId="{CDBB9533-0BAB-4E29-A3EF-17C4365D31EB}">
      <dgm:prSet/>
      <dgm:spPr/>
      <dgm:t>
        <a:bodyPr/>
        <a:lstStyle/>
        <a:p>
          <a:endParaRPr lang="en-US"/>
        </a:p>
      </dgm:t>
    </dgm:pt>
    <dgm:pt modelId="{FFA59F1F-6B83-408D-88AA-8235BA79F72E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Highlights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key financial keywords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such as revenue, growth, guidance, margins.</a:t>
          </a:r>
        </a:p>
      </dgm:t>
    </dgm:pt>
    <dgm:pt modelId="{B55697BA-4E8B-4558-8F9F-D1E37B3DE270}" type="parTrans" cxnId="{2722CE55-F609-4AD3-B95A-0FFA34C8C061}">
      <dgm:prSet/>
      <dgm:spPr/>
      <dgm:t>
        <a:bodyPr/>
        <a:lstStyle/>
        <a:p>
          <a:endParaRPr lang="en-US"/>
        </a:p>
      </dgm:t>
    </dgm:pt>
    <dgm:pt modelId="{F2CE4AB8-C226-4D2F-9299-980CF2417760}" type="sibTrans" cxnId="{2722CE55-F609-4AD3-B95A-0FFA34C8C061}">
      <dgm:prSet/>
      <dgm:spPr/>
      <dgm:t>
        <a:bodyPr/>
        <a:lstStyle/>
        <a:p>
          <a:endParaRPr lang="en-US"/>
        </a:p>
      </dgm:t>
    </dgm:pt>
    <dgm:pt modelId="{A788B5C5-5423-4F6A-8C6C-3BB103D93CF3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Sensitive to domain-specific vocabulary in earnings calls.</a:t>
          </a:r>
        </a:p>
      </dgm:t>
    </dgm:pt>
    <dgm:pt modelId="{4473CDAA-1CF2-41C4-82CA-2BD1054BD6FF}" type="parTrans" cxnId="{AECA34B6-4784-4C54-801F-A4FB62EF62E9}">
      <dgm:prSet/>
      <dgm:spPr/>
      <dgm:t>
        <a:bodyPr/>
        <a:lstStyle/>
        <a:p>
          <a:endParaRPr lang="en-US"/>
        </a:p>
      </dgm:t>
    </dgm:pt>
    <dgm:pt modelId="{97E82F37-A48E-48E5-A7BA-D3E307722CA2}" type="sibTrans" cxnId="{AECA34B6-4784-4C54-801F-A4FB62EF62E9}">
      <dgm:prSet/>
      <dgm:spPr/>
      <dgm:t>
        <a:bodyPr/>
        <a:lstStyle/>
        <a:p>
          <a:endParaRPr lang="en-US"/>
        </a:p>
      </dgm:t>
    </dgm:pt>
    <dgm:pt modelId="{3B21C6CB-B7CB-4012-9DA6-F3B54D7CACCC}">
      <dgm:prSet/>
      <dgm:spPr/>
      <dgm:t>
        <a:bodyPr/>
        <a:lstStyle/>
        <a:p>
          <a:r>
            <a:rPr lang="en-US" b="1" dirty="0" err="1"/>
            <a:t>TextRank</a:t>
          </a:r>
          <a:r>
            <a:rPr lang="en-US" b="1" dirty="0"/>
            <a:t>-based</a:t>
          </a:r>
          <a:endParaRPr lang="en-US" dirty="0"/>
        </a:p>
      </dgm:t>
    </dgm:pt>
    <dgm:pt modelId="{8DDC75DA-4CD5-480C-9C6B-77A75C1E84D7}" type="parTrans" cxnId="{8446AE66-00C6-4E0C-A9C7-67CDA24030A0}">
      <dgm:prSet/>
      <dgm:spPr/>
      <dgm:t>
        <a:bodyPr/>
        <a:lstStyle/>
        <a:p>
          <a:endParaRPr lang="en-US"/>
        </a:p>
      </dgm:t>
    </dgm:pt>
    <dgm:pt modelId="{334E471B-C1A2-4954-A57A-347790E2E0E1}" type="sibTrans" cxnId="{8446AE66-00C6-4E0C-A9C7-67CDA24030A0}">
      <dgm:prSet/>
      <dgm:spPr/>
      <dgm:t>
        <a:bodyPr/>
        <a:lstStyle/>
        <a:p>
          <a:endParaRPr lang="en-US"/>
        </a:p>
      </dgm:t>
    </dgm:pt>
    <dgm:pt modelId="{C1EEEE28-27F4-4769-AF7A-C0ADC2C00E6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Selects sentences that best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represent the central themes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of the transcript.</a:t>
          </a:r>
        </a:p>
      </dgm:t>
    </dgm:pt>
    <dgm:pt modelId="{A4EA0009-0739-45C1-BF1B-BA212F052DE7}" type="parTrans" cxnId="{64E50342-9BD8-4BB2-A18B-1FD93BFFDA3E}">
      <dgm:prSet/>
      <dgm:spPr/>
      <dgm:t>
        <a:bodyPr/>
        <a:lstStyle/>
        <a:p>
          <a:endParaRPr lang="en-US"/>
        </a:p>
      </dgm:t>
    </dgm:pt>
    <dgm:pt modelId="{41672939-D681-483E-A96D-A104DEF7D2AA}" type="sibTrans" cxnId="{64E50342-9BD8-4BB2-A18B-1FD93BFFDA3E}">
      <dgm:prSet/>
      <dgm:spPr/>
      <dgm:t>
        <a:bodyPr/>
        <a:lstStyle/>
        <a:p>
          <a:endParaRPr lang="en-US"/>
        </a:p>
      </dgm:t>
    </dgm:pt>
    <dgm:pt modelId="{ECF065BE-F5B7-47DE-82EA-A39A64CAA37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Less dependent on individual keywords and more on sentence-to-sentence connections.</a:t>
          </a:r>
        </a:p>
      </dgm:t>
    </dgm:pt>
    <dgm:pt modelId="{F5BEB101-D1C8-49E6-AAF0-24B4A7247256}" type="parTrans" cxnId="{E90294D5-93DC-4A33-B6A7-625F56FF4743}">
      <dgm:prSet/>
      <dgm:spPr/>
      <dgm:t>
        <a:bodyPr/>
        <a:lstStyle/>
        <a:p>
          <a:endParaRPr lang="en-US"/>
        </a:p>
      </dgm:t>
    </dgm:pt>
    <dgm:pt modelId="{8E3EC6B1-A012-4227-8016-1F3840C6393B}" type="sibTrans" cxnId="{E90294D5-93DC-4A33-B6A7-625F56FF4743}">
      <dgm:prSet/>
      <dgm:spPr/>
      <dgm:t>
        <a:bodyPr/>
        <a:lstStyle/>
        <a:p>
          <a:endParaRPr lang="en-US"/>
        </a:p>
      </dgm:t>
    </dgm:pt>
    <dgm:pt modelId="{D2A29E1C-E4E1-4F69-BA01-9732A51443D3}" type="pres">
      <dgm:prSet presAssocID="{6C01C6F7-CE0E-4699-B2B5-CC46D74B888A}" presName="vert0" presStyleCnt="0">
        <dgm:presLayoutVars>
          <dgm:dir/>
          <dgm:animOne val="branch"/>
          <dgm:animLvl val="lvl"/>
        </dgm:presLayoutVars>
      </dgm:prSet>
      <dgm:spPr/>
    </dgm:pt>
    <dgm:pt modelId="{FC68BDF7-9BA6-47C9-9568-B5A91403B696}" type="pres">
      <dgm:prSet presAssocID="{C83D83EA-7AC9-4160-A684-41B72E9586D6}" presName="thickLine" presStyleLbl="alignNode1" presStyleIdx="0" presStyleCnt="3"/>
      <dgm:spPr/>
    </dgm:pt>
    <dgm:pt modelId="{E6B9AFA1-772A-4A1C-BA80-B9090146E343}" type="pres">
      <dgm:prSet presAssocID="{C83D83EA-7AC9-4160-A684-41B72E9586D6}" presName="horz1" presStyleCnt="0"/>
      <dgm:spPr/>
    </dgm:pt>
    <dgm:pt modelId="{A7F80A8C-8B7F-4A3A-AF28-167C183C228A}" type="pres">
      <dgm:prSet presAssocID="{C83D83EA-7AC9-4160-A684-41B72E9586D6}" presName="tx1" presStyleLbl="revTx" presStyleIdx="0" presStyleCnt="7" custScaleX="289008" custScaleY="48611" custLinFactX="6115" custLinFactNeighborX="100000" custLinFactNeighborY="-2169"/>
      <dgm:spPr/>
    </dgm:pt>
    <dgm:pt modelId="{B09C8EF1-CC44-40EA-AEC0-139F16CA2E20}" type="pres">
      <dgm:prSet presAssocID="{C83D83EA-7AC9-4160-A684-41B72E9586D6}" presName="vert1" presStyleCnt="0"/>
      <dgm:spPr/>
    </dgm:pt>
    <dgm:pt modelId="{CEC1F4C1-61D2-47EF-911D-DC05D07364C5}" type="pres">
      <dgm:prSet presAssocID="{2F736CA2-C2BA-4073-BCFC-D53643FE8424}" presName="thickLine" presStyleLbl="alignNode1" presStyleIdx="1" presStyleCnt="3"/>
      <dgm:spPr/>
    </dgm:pt>
    <dgm:pt modelId="{F2AB232B-4930-42F2-8672-E639CC0B1F75}" type="pres">
      <dgm:prSet presAssocID="{2F736CA2-C2BA-4073-BCFC-D53643FE8424}" presName="horz1" presStyleCnt="0"/>
      <dgm:spPr/>
    </dgm:pt>
    <dgm:pt modelId="{FEFF48E5-D1A8-4973-B1FF-04FB05D4B893}" type="pres">
      <dgm:prSet presAssocID="{2F736CA2-C2BA-4073-BCFC-D53643FE8424}" presName="tx1" presStyleLbl="revTx" presStyleIdx="1" presStyleCnt="7"/>
      <dgm:spPr/>
    </dgm:pt>
    <dgm:pt modelId="{B0826270-B6DC-4D5C-AB59-05C1B3546878}" type="pres">
      <dgm:prSet presAssocID="{2F736CA2-C2BA-4073-BCFC-D53643FE8424}" presName="vert1" presStyleCnt="0"/>
      <dgm:spPr/>
    </dgm:pt>
    <dgm:pt modelId="{F338E7E0-7DE8-4030-AF35-2BB9B571E94E}" type="pres">
      <dgm:prSet presAssocID="{FFA59F1F-6B83-408D-88AA-8235BA79F72E}" presName="vertSpace2a" presStyleCnt="0"/>
      <dgm:spPr/>
    </dgm:pt>
    <dgm:pt modelId="{B0FBB9D4-AA11-495C-8F3D-06F617C66976}" type="pres">
      <dgm:prSet presAssocID="{FFA59F1F-6B83-408D-88AA-8235BA79F72E}" presName="horz2" presStyleCnt="0"/>
      <dgm:spPr/>
    </dgm:pt>
    <dgm:pt modelId="{261D186B-A5C1-4B20-9669-334AAD1609AD}" type="pres">
      <dgm:prSet presAssocID="{FFA59F1F-6B83-408D-88AA-8235BA79F72E}" presName="horzSpace2" presStyleCnt="0"/>
      <dgm:spPr/>
    </dgm:pt>
    <dgm:pt modelId="{94590C47-E903-4A0B-A57C-96DD94858188}" type="pres">
      <dgm:prSet presAssocID="{FFA59F1F-6B83-408D-88AA-8235BA79F72E}" presName="tx2" presStyleLbl="revTx" presStyleIdx="2" presStyleCnt="7"/>
      <dgm:spPr/>
    </dgm:pt>
    <dgm:pt modelId="{B424431A-C18E-4D68-9BB8-160EE6054241}" type="pres">
      <dgm:prSet presAssocID="{FFA59F1F-6B83-408D-88AA-8235BA79F72E}" presName="vert2" presStyleCnt="0"/>
      <dgm:spPr/>
    </dgm:pt>
    <dgm:pt modelId="{50B837DD-7D66-4162-BB77-8592E571088C}" type="pres">
      <dgm:prSet presAssocID="{FFA59F1F-6B83-408D-88AA-8235BA79F72E}" presName="thinLine2b" presStyleLbl="callout" presStyleIdx="0" presStyleCnt="4"/>
      <dgm:spPr/>
    </dgm:pt>
    <dgm:pt modelId="{C86F965E-88FE-4D98-8BA4-1BF4D4787AB6}" type="pres">
      <dgm:prSet presAssocID="{FFA59F1F-6B83-408D-88AA-8235BA79F72E}" presName="vertSpace2b" presStyleCnt="0"/>
      <dgm:spPr/>
    </dgm:pt>
    <dgm:pt modelId="{727A5A92-7230-4296-B7C2-25CD78E0BCB7}" type="pres">
      <dgm:prSet presAssocID="{A788B5C5-5423-4F6A-8C6C-3BB103D93CF3}" presName="horz2" presStyleCnt="0"/>
      <dgm:spPr/>
    </dgm:pt>
    <dgm:pt modelId="{012A7826-811E-4229-8DB7-1EB1A05FAEE5}" type="pres">
      <dgm:prSet presAssocID="{A788B5C5-5423-4F6A-8C6C-3BB103D93CF3}" presName="horzSpace2" presStyleCnt="0"/>
      <dgm:spPr/>
    </dgm:pt>
    <dgm:pt modelId="{01086A60-838D-4BC2-BACF-C133B183E952}" type="pres">
      <dgm:prSet presAssocID="{A788B5C5-5423-4F6A-8C6C-3BB103D93CF3}" presName="tx2" presStyleLbl="revTx" presStyleIdx="3" presStyleCnt="7"/>
      <dgm:spPr/>
    </dgm:pt>
    <dgm:pt modelId="{FB7DE2B8-5729-44B5-B943-CE9E2B5FE4D1}" type="pres">
      <dgm:prSet presAssocID="{A788B5C5-5423-4F6A-8C6C-3BB103D93CF3}" presName="vert2" presStyleCnt="0"/>
      <dgm:spPr/>
    </dgm:pt>
    <dgm:pt modelId="{2093CD9B-66A8-48A3-B778-224078B02180}" type="pres">
      <dgm:prSet presAssocID="{A788B5C5-5423-4F6A-8C6C-3BB103D93CF3}" presName="thinLine2b" presStyleLbl="callout" presStyleIdx="1" presStyleCnt="4"/>
      <dgm:spPr/>
    </dgm:pt>
    <dgm:pt modelId="{F46A06DD-E620-4832-9935-DE362EEAFC7A}" type="pres">
      <dgm:prSet presAssocID="{A788B5C5-5423-4F6A-8C6C-3BB103D93CF3}" presName="vertSpace2b" presStyleCnt="0"/>
      <dgm:spPr/>
    </dgm:pt>
    <dgm:pt modelId="{5BD715CB-BCAD-413A-8EA4-A178DD43D9DC}" type="pres">
      <dgm:prSet presAssocID="{3B21C6CB-B7CB-4012-9DA6-F3B54D7CACCC}" presName="thickLine" presStyleLbl="alignNode1" presStyleIdx="2" presStyleCnt="3"/>
      <dgm:spPr/>
    </dgm:pt>
    <dgm:pt modelId="{60C5CBC7-0F4D-4BF6-8CA9-A4E095F2E4F4}" type="pres">
      <dgm:prSet presAssocID="{3B21C6CB-B7CB-4012-9DA6-F3B54D7CACCC}" presName="horz1" presStyleCnt="0"/>
      <dgm:spPr/>
    </dgm:pt>
    <dgm:pt modelId="{83703A56-77C5-475A-8B8B-3AF8006D4424}" type="pres">
      <dgm:prSet presAssocID="{3B21C6CB-B7CB-4012-9DA6-F3B54D7CACCC}" presName="tx1" presStyleLbl="revTx" presStyleIdx="4" presStyleCnt="7"/>
      <dgm:spPr/>
    </dgm:pt>
    <dgm:pt modelId="{07EBC1C8-EA66-4DFB-BC33-1E2B9DE5BD07}" type="pres">
      <dgm:prSet presAssocID="{3B21C6CB-B7CB-4012-9DA6-F3B54D7CACCC}" presName="vert1" presStyleCnt="0"/>
      <dgm:spPr/>
    </dgm:pt>
    <dgm:pt modelId="{C89029CE-1F1D-44F7-80E7-24948F7CD9EB}" type="pres">
      <dgm:prSet presAssocID="{C1EEEE28-27F4-4769-AF7A-C0ADC2C00E66}" presName="vertSpace2a" presStyleCnt="0"/>
      <dgm:spPr/>
    </dgm:pt>
    <dgm:pt modelId="{05C4CC47-2835-4488-8AA0-D313DE331560}" type="pres">
      <dgm:prSet presAssocID="{C1EEEE28-27F4-4769-AF7A-C0ADC2C00E66}" presName="horz2" presStyleCnt="0"/>
      <dgm:spPr/>
    </dgm:pt>
    <dgm:pt modelId="{FB39A250-3C46-490C-924F-A633D67E43D9}" type="pres">
      <dgm:prSet presAssocID="{C1EEEE28-27F4-4769-AF7A-C0ADC2C00E66}" presName="horzSpace2" presStyleCnt="0"/>
      <dgm:spPr/>
    </dgm:pt>
    <dgm:pt modelId="{2D44E12D-5D75-40B2-9A42-625F6800814C}" type="pres">
      <dgm:prSet presAssocID="{C1EEEE28-27F4-4769-AF7A-C0ADC2C00E66}" presName="tx2" presStyleLbl="revTx" presStyleIdx="5" presStyleCnt="7"/>
      <dgm:spPr/>
    </dgm:pt>
    <dgm:pt modelId="{7655449D-2A58-421A-AF6E-A65F5BC3F847}" type="pres">
      <dgm:prSet presAssocID="{C1EEEE28-27F4-4769-AF7A-C0ADC2C00E66}" presName="vert2" presStyleCnt="0"/>
      <dgm:spPr/>
    </dgm:pt>
    <dgm:pt modelId="{9302113C-A5AC-44E8-842D-C55C9DD770D7}" type="pres">
      <dgm:prSet presAssocID="{C1EEEE28-27F4-4769-AF7A-C0ADC2C00E66}" presName="thinLine2b" presStyleLbl="callout" presStyleIdx="2" presStyleCnt="4"/>
      <dgm:spPr/>
    </dgm:pt>
    <dgm:pt modelId="{B15F67B7-A446-49BC-B946-C44941E6B678}" type="pres">
      <dgm:prSet presAssocID="{C1EEEE28-27F4-4769-AF7A-C0ADC2C00E66}" presName="vertSpace2b" presStyleCnt="0"/>
      <dgm:spPr/>
    </dgm:pt>
    <dgm:pt modelId="{E7D5B944-255E-42B6-8B48-520C8653CB34}" type="pres">
      <dgm:prSet presAssocID="{ECF065BE-F5B7-47DE-82EA-A39A64CAA376}" presName="horz2" presStyleCnt="0"/>
      <dgm:spPr/>
    </dgm:pt>
    <dgm:pt modelId="{7AE2583E-7FE0-4639-AC3F-BAAF9BEF35E2}" type="pres">
      <dgm:prSet presAssocID="{ECF065BE-F5B7-47DE-82EA-A39A64CAA376}" presName="horzSpace2" presStyleCnt="0"/>
      <dgm:spPr/>
    </dgm:pt>
    <dgm:pt modelId="{42E299A3-5A81-436B-A464-43E1B75E94EF}" type="pres">
      <dgm:prSet presAssocID="{ECF065BE-F5B7-47DE-82EA-A39A64CAA376}" presName="tx2" presStyleLbl="revTx" presStyleIdx="6" presStyleCnt="7"/>
      <dgm:spPr/>
    </dgm:pt>
    <dgm:pt modelId="{C5A22B99-72A4-47DD-BBD9-4933E107E517}" type="pres">
      <dgm:prSet presAssocID="{ECF065BE-F5B7-47DE-82EA-A39A64CAA376}" presName="vert2" presStyleCnt="0"/>
      <dgm:spPr/>
    </dgm:pt>
    <dgm:pt modelId="{F25DB386-11D3-43FA-A3CE-36D4BB7C4607}" type="pres">
      <dgm:prSet presAssocID="{ECF065BE-F5B7-47DE-82EA-A39A64CAA376}" presName="thinLine2b" presStyleLbl="callout" presStyleIdx="3" presStyleCnt="4"/>
      <dgm:spPr/>
    </dgm:pt>
    <dgm:pt modelId="{95317F55-5DB6-4D80-8B10-37CB5F0A56A4}" type="pres">
      <dgm:prSet presAssocID="{ECF065BE-F5B7-47DE-82EA-A39A64CAA376}" presName="vertSpace2b" presStyleCnt="0"/>
      <dgm:spPr/>
    </dgm:pt>
  </dgm:ptLst>
  <dgm:cxnLst>
    <dgm:cxn modelId="{4CD67A27-FD92-4FD9-A4FB-A3474DA71665}" type="presOf" srcId="{3B21C6CB-B7CB-4012-9DA6-F3B54D7CACCC}" destId="{83703A56-77C5-475A-8B8B-3AF8006D4424}" srcOrd="0" destOrd="0" presId="urn:microsoft.com/office/officeart/2008/layout/LinedList"/>
    <dgm:cxn modelId="{CDBB9533-0BAB-4E29-A3EF-17C4365D31EB}" srcId="{6C01C6F7-CE0E-4699-B2B5-CC46D74B888A}" destId="{2F736CA2-C2BA-4073-BCFC-D53643FE8424}" srcOrd="1" destOrd="0" parTransId="{D7FD59AA-6F7F-4904-B4E7-8A09C9F4F072}" sibTransId="{245818FA-60B1-4DDC-943E-4615EC89AB91}"/>
    <dgm:cxn modelId="{64E50342-9BD8-4BB2-A18B-1FD93BFFDA3E}" srcId="{3B21C6CB-B7CB-4012-9DA6-F3B54D7CACCC}" destId="{C1EEEE28-27F4-4769-AF7A-C0ADC2C00E66}" srcOrd="0" destOrd="0" parTransId="{A4EA0009-0739-45C1-BF1B-BA212F052DE7}" sibTransId="{41672939-D681-483E-A96D-A104DEF7D2AA}"/>
    <dgm:cxn modelId="{8446AE66-00C6-4E0C-A9C7-67CDA24030A0}" srcId="{6C01C6F7-CE0E-4699-B2B5-CC46D74B888A}" destId="{3B21C6CB-B7CB-4012-9DA6-F3B54D7CACCC}" srcOrd="2" destOrd="0" parTransId="{8DDC75DA-4CD5-480C-9C6B-77A75C1E84D7}" sibTransId="{334E471B-C1A2-4954-A57A-347790E2E0E1}"/>
    <dgm:cxn modelId="{E1CE186D-DF0C-4205-B03D-7D12D3A3F12D}" type="presOf" srcId="{ECF065BE-F5B7-47DE-82EA-A39A64CAA376}" destId="{42E299A3-5A81-436B-A464-43E1B75E94EF}" srcOrd="0" destOrd="0" presId="urn:microsoft.com/office/officeart/2008/layout/LinedList"/>
    <dgm:cxn modelId="{6ABF456F-4785-4CA2-83CC-7320D20107CB}" type="presOf" srcId="{C83D83EA-7AC9-4160-A684-41B72E9586D6}" destId="{A7F80A8C-8B7F-4A3A-AF28-167C183C228A}" srcOrd="0" destOrd="0" presId="urn:microsoft.com/office/officeart/2008/layout/LinedList"/>
    <dgm:cxn modelId="{2722CE55-F609-4AD3-B95A-0FFA34C8C061}" srcId="{2F736CA2-C2BA-4073-BCFC-D53643FE8424}" destId="{FFA59F1F-6B83-408D-88AA-8235BA79F72E}" srcOrd="0" destOrd="0" parTransId="{B55697BA-4E8B-4558-8F9F-D1E37B3DE270}" sibTransId="{F2CE4AB8-C226-4D2F-9299-980CF2417760}"/>
    <dgm:cxn modelId="{CBDC208B-4462-47FA-9265-FF01A9478523}" srcId="{6C01C6F7-CE0E-4699-B2B5-CC46D74B888A}" destId="{C83D83EA-7AC9-4160-A684-41B72E9586D6}" srcOrd="0" destOrd="0" parTransId="{6E6E82A1-5426-4798-BAC4-2FE177500A4F}" sibTransId="{CB725AFF-7E76-4E94-9F38-1AE7F4A36DA9}"/>
    <dgm:cxn modelId="{56AFEF92-882E-4C08-937B-C4EF1EBD33F1}" type="presOf" srcId="{6C01C6F7-CE0E-4699-B2B5-CC46D74B888A}" destId="{D2A29E1C-E4E1-4F69-BA01-9732A51443D3}" srcOrd="0" destOrd="0" presId="urn:microsoft.com/office/officeart/2008/layout/LinedList"/>
    <dgm:cxn modelId="{45604495-4230-4965-B5F0-E924D2AE8732}" type="presOf" srcId="{A788B5C5-5423-4F6A-8C6C-3BB103D93CF3}" destId="{01086A60-838D-4BC2-BACF-C133B183E952}" srcOrd="0" destOrd="0" presId="urn:microsoft.com/office/officeart/2008/layout/LinedList"/>
    <dgm:cxn modelId="{19E938AB-D403-4F11-919A-9061F04BDA56}" type="presOf" srcId="{2F736CA2-C2BA-4073-BCFC-D53643FE8424}" destId="{FEFF48E5-D1A8-4973-B1FF-04FB05D4B893}" srcOrd="0" destOrd="0" presId="urn:microsoft.com/office/officeart/2008/layout/LinedList"/>
    <dgm:cxn modelId="{AECA34B6-4784-4C54-801F-A4FB62EF62E9}" srcId="{2F736CA2-C2BA-4073-BCFC-D53643FE8424}" destId="{A788B5C5-5423-4F6A-8C6C-3BB103D93CF3}" srcOrd="1" destOrd="0" parTransId="{4473CDAA-1CF2-41C4-82CA-2BD1054BD6FF}" sibTransId="{97E82F37-A48E-48E5-A7BA-D3E307722CA2}"/>
    <dgm:cxn modelId="{D7DC62CC-1930-4EB2-B894-0DDE0F217619}" type="presOf" srcId="{C1EEEE28-27F4-4769-AF7A-C0ADC2C00E66}" destId="{2D44E12D-5D75-40B2-9A42-625F6800814C}" srcOrd="0" destOrd="0" presId="urn:microsoft.com/office/officeart/2008/layout/LinedList"/>
    <dgm:cxn modelId="{E90294D5-93DC-4A33-B6A7-625F56FF4743}" srcId="{3B21C6CB-B7CB-4012-9DA6-F3B54D7CACCC}" destId="{ECF065BE-F5B7-47DE-82EA-A39A64CAA376}" srcOrd="1" destOrd="0" parTransId="{F5BEB101-D1C8-49E6-AAF0-24B4A7247256}" sibTransId="{8E3EC6B1-A012-4227-8016-1F3840C6393B}"/>
    <dgm:cxn modelId="{22B61AFC-08FB-4253-8167-7DBE899DCB0C}" type="presOf" srcId="{FFA59F1F-6B83-408D-88AA-8235BA79F72E}" destId="{94590C47-E903-4A0B-A57C-96DD94858188}" srcOrd="0" destOrd="0" presId="urn:microsoft.com/office/officeart/2008/layout/LinedList"/>
    <dgm:cxn modelId="{1BA84327-2F1B-48FF-A66C-C2A0FE79A358}" type="presParOf" srcId="{D2A29E1C-E4E1-4F69-BA01-9732A51443D3}" destId="{FC68BDF7-9BA6-47C9-9568-B5A91403B696}" srcOrd="0" destOrd="0" presId="urn:microsoft.com/office/officeart/2008/layout/LinedList"/>
    <dgm:cxn modelId="{259A9162-247C-4B29-BEB0-9E8A8C4F4CD7}" type="presParOf" srcId="{D2A29E1C-E4E1-4F69-BA01-9732A51443D3}" destId="{E6B9AFA1-772A-4A1C-BA80-B9090146E343}" srcOrd="1" destOrd="0" presId="urn:microsoft.com/office/officeart/2008/layout/LinedList"/>
    <dgm:cxn modelId="{07934460-CDD2-402E-A0BF-89876C76B2C5}" type="presParOf" srcId="{E6B9AFA1-772A-4A1C-BA80-B9090146E343}" destId="{A7F80A8C-8B7F-4A3A-AF28-167C183C228A}" srcOrd="0" destOrd="0" presId="urn:microsoft.com/office/officeart/2008/layout/LinedList"/>
    <dgm:cxn modelId="{FFCC63EB-0A8D-44CB-970B-1B938201665B}" type="presParOf" srcId="{E6B9AFA1-772A-4A1C-BA80-B9090146E343}" destId="{B09C8EF1-CC44-40EA-AEC0-139F16CA2E20}" srcOrd="1" destOrd="0" presId="urn:microsoft.com/office/officeart/2008/layout/LinedList"/>
    <dgm:cxn modelId="{CEE05EA9-ABC3-4943-B668-D64D5DCB3054}" type="presParOf" srcId="{D2A29E1C-E4E1-4F69-BA01-9732A51443D3}" destId="{CEC1F4C1-61D2-47EF-911D-DC05D07364C5}" srcOrd="2" destOrd="0" presId="urn:microsoft.com/office/officeart/2008/layout/LinedList"/>
    <dgm:cxn modelId="{6DFC1F64-D90C-4225-B4E7-C96F220164D9}" type="presParOf" srcId="{D2A29E1C-E4E1-4F69-BA01-9732A51443D3}" destId="{F2AB232B-4930-42F2-8672-E639CC0B1F75}" srcOrd="3" destOrd="0" presId="urn:microsoft.com/office/officeart/2008/layout/LinedList"/>
    <dgm:cxn modelId="{7ABF14C3-AA84-453F-A37F-E8531D62B711}" type="presParOf" srcId="{F2AB232B-4930-42F2-8672-E639CC0B1F75}" destId="{FEFF48E5-D1A8-4973-B1FF-04FB05D4B893}" srcOrd="0" destOrd="0" presId="urn:microsoft.com/office/officeart/2008/layout/LinedList"/>
    <dgm:cxn modelId="{33B555CC-F987-4CB3-9D07-CBAFBD964882}" type="presParOf" srcId="{F2AB232B-4930-42F2-8672-E639CC0B1F75}" destId="{B0826270-B6DC-4D5C-AB59-05C1B3546878}" srcOrd="1" destOrd="0" presId="urn:microsoft.com/office/officeart/2008/layout/LinedList"/>
    <dgm:cxn modelId="{B33D75C9-53A3-4DA2-845C-A40E39BF1546}" type="presParOf" srcId="{B0826270-B6DC-4D5C-AB59-05C1B3546878}" destId="{F338E7E0-7DE8-4030-AF35-2BB9B571E94E}" srcOrd="0" destOrd="0" presId="urn:microsoft.com/office/officeart/2008/layout/LinedList"/>
    <dgm:cxn modelId="{13F0AA9F-4D06-4D9F-A35F-590119A6B38F}" type="presParOf" srcId="{B0826270-B6DC-4D5C-AB59-05C1B3546878}" destId="{B0FBB9D4-AA11-495C-8F3D-06F617C66976}" srcOrd="1" destOrd="0" presId="urn:microsoft.com/office/officeart/2008/layout/LinedList"/>
    <dgm:cxn modelId="{E5AEC0A5-9CF3-4A00-A572-374C89F7B7CD}" type="presParOf" srcId="{B0FBB9D4-AA11-495C-8F3D-06F617C66976}" destId="{261D186B-A5C1-4B20-9669-334AAD1609AD}" srcOrd="0" destOrd="0" presId="urn:microsoft.com/office/officeart/2008/layout/LinedList"/>
    <dgm:cxn modelId="{24DDA43F-1721-4469-92FF-0FC8C88CF070}" type="presParOf" srcId="{B0FBB9D4-AA11-495C-8F3D-06F617C66976}" destId="{94590C47-E903-4A0B-A57C-96DD94858188}" srcOrd="1" destOrd="0" presId="urn:microsoft.com/office/officeart/2008/layout/LinedList"/>
    <dgm:cxn modelId="{FE9FB93C-98F1-4745-A0A1-F051F3F07556}" type="presParOf" srcId="{B0FBB9D4-AA11-495C-8F3D-06F617C66976}" destId="{B424431A-C18E-4D68-9BB8-160EE6054241}" srcOrd="2" destOrd="0" presId="urn:microsoft.com/office/officeart/2008/layout/LinedList"/>
    <dgm:cxn modelId="{2F7E7778-F18B-4BD6-BD35-39FE2CB74F1B}" type="presParOf" srcId="{B0826270-B6DC-4D5C-AB59-05C1B3546878}" destId="{50B837DD-7D66-4162-BB77-8592E571088C}" srcOrd="2" destOrd="0" presId="urn:microsoft.com/office/officeart/2008/layout/LinedList"/>
    <dgm:cxn modelId="{53F780A8-C6AB-494B-B94A-9706F4832EE4}" type="presParOf" srcId="{B0826270-B6DC-4D5C-AB59-05C1B3546878}" destId="{C86F965E-88FE-4D98-8BA4-1BF4D4787AB6}" srcOrd="3" destOrd="0" presId="urn:microsoft.com/office/officeart/2008/layout/LinedList"/>
    <dgm:cxn modelId="{9775BC41-A6AB-40ED-9AD4-3A86FAA650E0}" type="presParOf" srcId="{B0826270-B6DC-4D5C-AB59-05C1B3546878}" destId="{727A5A92-7230-4296-B7C2-25CD78E0BCB7}" srcOrd="4" destOrd="0" presId="urn:microsoft.com/office/officeart/2008/layout/LinedList"/>
    <dgm:cxn modelId="{66FF5746-E1D3-4B59-BA56-F9A2F8CD3361}" type="presParOf" srcId="{727A5A92-7230-4296-B7C2-25CD78E0BCB7}" destId="{012A7826-811E-4229-8DB7-1EB1A05FAEE5}" srcOrd="0" destOrd="0" presId="urn:microsoft.com/office/officeart/2008/layout/LinedList"/>
    <dgm:cxn modelId="{2B1BB1BE-C4AF-48FB-A73A-F70F1A0F603F}" type="presParOf" srcId="{727A5A92-7230-4296-B7C2-25CD78E0BCB7}" destId="{01086A60-838D-4BC2-BACF-C133B183E952}" srcOrd="1" destOrd="0" presId="urn:microsoft.com/office/officeart/2008/layout/LinedList"/>
    <dgm:cxn modelId="{51EAEF23-BAAC-4F43-A069-0DEAE0C114B0}" type="presParOf" srcId="{727A5A92-7230-4296-B7C2-25CD78E0BCB7}" destId="{FB7DE2B8-5729-44B5-B943-CE9E2B5FE4D1}" srcOrd="2" destOrd="0" presId="urn:microsoft.com/office/officeart/2008/layout/LinedList"/>
    <dgm:cxn modelId="{020D4399-65E2-4C12-9FC3-2D81BDC6F9FA}" type="presParOf" srcId="{B0826270-B6DC-4D5C-AB59-05C1B3546878}" destId="{2093CD9B-66A8-48A3-B778-224078B02180}" srcOrd="5" destOrd="0" presId="urn:microsoft.com/office/officeart/2008/layout/LinedList"/>
    <dgm:cxn modelId="{38A87CF1-46E9-44B7-A616-B6459D9BF1F5}" type="presParOf" srcId="{B0826270-B6DC-4D5C-AB59-05C1B3546878}" destId="{F46A06DD-E620-4832-9935-DE362EEAFC7A}" srcOrd="6" destOrd="0" presId="urn:microsoft.com/office/officeart/2008/layout/LinedList"/>
    <dgm:cxn modelId="{C6CDB464-82D1-473B-82F2-72B4E0F35562}" type="presParOf" srcId="{D2A29E1C-E4E1-4F69-BA01-9732A51443D3}" destId="{5BD715CB-BCAD-413A-8EA4-A178DD43D9DC}" srcOrd="4" destOrd="0" presId="urn:microsoft.com/office/officeart/2008/layout/LinedList"/>
    <dgm:cxn modelId="{1F81D778-4227-4CCD-9743-5B8E8C08E809}" type="presParOf" srcId="{D2A29E1C-E4E1-4F69-BA01-9732A51443D3}" destId="{60C5CBC7-0F4D-4BF6-8CA9-A4E095F2E4F4}" srcOrd="5" destOrd="0" presId="urn:microsoft.com/office/officeart/2008/layout/LinedList"/>
    <dgm:cxn modelId="{9728B761-6E57-4F40-A864-47FDB4BB38BA}" type="presParOf" srcId="{60C5CBC7-0F4D-4BF6-8CA9-A4E095F2E4F4}" destId="{83703A56-77C5-475A-8B8B-3AF8006D4424}" srcOrd="0" destOrd="0" presId="urn:microsoft.com/office/officeart/2008/layout/LinedList"/>
    <dgm:cxn modelId="{64FF7B6C-D6D3-442F-989A-34BD85878F4D}" type="presParOf" srcId="{60C5CBC7-0F4D-4BF6-8CA9-A4E095F2E4F4}" destId="{07EBC1C8-EA66-4DFB-BC33-1E2B9DE5BD07}" srcOrd="1" destOrd="0" presId="urn:microsoft.com/office/officeart/2008/layout/LinedList"/>
    <dgm:cxn modelId="{178A860E-49CB-4DD5-9011-261947C472B6}" type="presParOf" srcId="{07EBC1C8-EA66-4DFB-BC33-1E2B9DE5BD07}" destId="{C89029CE-1F1D-44F7-80E7-24948F7CD9EB}" srcOrd="0" destOrd="0" presId="urn:microsoft.com/office/officeart/2008/layout/LinedList"/>
    <dgm:cxn modelId="{A84F1BF6-C58C-4F00-8E82-0E99FA3236BA}" type="presParOf" srcId="{07EBC1C8-EA66-4DFB-BC33-1E2B9DE5BD07}" destId="{05C4CC47-2835-4488-8AA0-D313DE331560}" srcOrd="1" destOrd="0" presId="urn:microsoft.com/office/officeart/2008/layout/LinedList"/>
    <dgm:cxn modelId="{2B2F16C1-F1FE-4DF6-8CE1-9B5A117A4CCF}" type="presParOf" srcId="{05C4CC47-2835-4488-8AA0-D313DE331560}" destId="{FB39A250-3C46-490C-924F-A633D67E43D9}" srcOrd="0" destOrd="0" presId="urn:microsoft.com/office/officeart/2008/layout/LinedList"/>
    <dgm:cxn modelId="{BED03CCE-555B-4542-83B6-AED2D30EE863}" type="presParOf" srcId="{05C4CC47-2835-4488-8AA0-D313DE331560}" destId="{2D44E12D-5D75-40B2-9A42-625F6800814C}" srcOrd="1" destOrd="0" presId="urn:microsoft.com/office/officeart/2008/layout/LinedList"/>
    <dgm:cxn modelId="{236F7D9A-AB78-48C0-AAC6-C994716E6F16}" type="presParOf" srcId="{05C4CC47-2835-4488-8AA0-D313DE331560}" destId="{7655449D-2A58-421A-AF6E-A65F5BC3F847}" srcOrd="2" destOrd="0" presId="urn:microsoft.com/office/officeart/2008/layout/LinedList"/>
    <dgm:cxn modelId="{B267B2A0-C9F0-4AAB-BDA3-7D4756D3A626}" type="presParOf" srcId="{07EBC1C8-EA66-4DFB-BC33-1E2B9DE5BD07}" destId="{9302113C-A5AC-44E8-842D-C55C9DD770D7}" srcOrd="2" destOrd="0" presId="urn:microsoft.com/office/officeart/2008/layout/LinedList"/>
    <dgm:cxn modelId="{053724CE-56AF-40F4-A0D5-C7E85B1182F3}" type="presParOf" srcId="{07EBC1C8-EA66-4DFB-BC33-1E2B9DE5BD07}" destId="{B15F67B7-A446-49BC-B946-C44941E6B678}" srcOrd="3" destOrd="0" presId="urn:microsoft.com/office/officeart/2008/layout/LinedList"/>
    <dgm:cxn modelId="{52DD8B06-C96E-4D58-B318-49B8A21FA397}" type="presParOf" srcId="{07EBC1C8-EA66-4DFB-BC33-1E2B9DE5BD07}" destId="{E7D5B944-255E-42B6-8B48-520C8653CB34}" srcOrd="4" destOrd="0" presId="urn:microsoft.com/office/officeart/2008/layout/LinedList"/>
    <dgm:cxn modelId="{E26B36F7-B118-4494-8A88-6CEBD22E9A6D}" type="presParOf" srcId="{E7D5B944-255E-42B6-8B48-520C8653CB34}" destId="{7AE2583E-7FE0-4639-AC3F-BAAF9BEF35E2}" srcOrd="0" destOrd="0" presId="urn:microsoft.com/office/officeart/2008/layout/LinedList"/>
    <dgm:cxn modelId="{C104B466-595E-4B24-9F58-6E2C24D6D0B4}" type="presParOf" srcId="{E7D5B944-255E-42B6-8B48-520C8653CB34}" destId="{42E299A3-5A81-436B-A464-43E1B75E94EF}" srcOrd="1" destOrd="0" presId="urn:microsoft.com/office/officeart/2008/layout/LinedList"/>
    <dgm:cxn modelId="{95B45BF8-5A06-494E-BE32-8B83B69B336C}" type="presParOf" srcId="{E7D5B944-255E-42B6-8B48-520C8653CB34}" destId="{C5A22B99-72A4-47DD-BBD9-4933E107E517}" srcOrd="2" destOrd="0" presId="urn:microsoft.com/office/officeart/2008/layout/LinedList"/>
    <dgm:cxn modelId="{5111D583-95ED-4D23-8F50-A56E76C14F19}" type="presParOf" srcId="{07EBC1C8-EA66-4DFB-BC33-1E2B9DE5BD07}" destId="{F25DB386-11D3-43FA-A3CE-36D4BB7C4607}" srcOrd="5" destOrd="0" presId="urn:microsoft.com/office/officeart/2008/layout/LinedList"/>
    <dgm:cxn modelId="{26F25573-F609-459D-A23B-C92228238414}" type="presParOf" srcId="{07EBC1C8-EA66-4DFB-BC33-1E2B9DE5BD07}" destId="{95317F55-5DB6-4D80-8B10-37CB5F0A56A4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8B0B61-D380-4CBE-8126-6841A3DD7D5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2667F12-7FC2-4812-B576-8D121EA189A1}">
      <dgm:prSet/>
      <dgm:spPr/>
      <dgm:t>
        <a:bodyPr/>
        <a:lstStyle/>
        <a:p>
          <a:r>
            <a:rPr lang="en-US" b="1" dirty="0"/>
            <a:t>Model Overview</a:t>
          </a:r>
          <a:endParaRPr lang="en-US" dirty="0"/>
        </a:p>
      </dgm:t>
    </dgm:pt>
    <dgm:pt modelId="{B9778D1E-7FDA-4F7E-A829-E98046CBD16E}" type="parTrans" cxnId="{D2EFD392-2110-4468-BBB1-7DE68BD3C7CB}">
      <dgm:prSet/>
      <dgm:spPr/>
      <dgm:t>
        <a:bodyPr/>
        <a:lstStyle/>
        <a:p>
          <a:endParaRPr lang="en-US"/>
        </a:p>
      </dgm:t>
    </dgm:pt>
    <dgm:pt modelId="{8ED394DA-14BB-4285-B49C-3C54410F4FE2}" type="sibTrans" cxnId="{D2EFD392-2110-4468-BBB1-7DE68BD3C7CB}">
      <dgm:prSet/>
      <dgm:spPr/>
      <dgm:t>
        <a:bodyPr/>
        <a:lstStyle/>
        <a:p>
          <a:endParaRPr lang="en-US"/>
        </a:p>
      </dgm:t>
    </dgm:pt>
    <dgm:pt modelId="{63701E0D-084A-43CC-89CB-87F5DA9BB9D1}">
      <dgm:prSet/>
      <dgm:spPr/>
      <dgm:t>
        <a:bodyPr/>
        <a:lstStyle/>
        <a:p>
          <a:r>
            <a:rPr lang="en-US" dirty="0"/>
            <a:t>Used </a:t>
          </a:r>
          <a:r>
            <a:rPr lang="en-US" dirty="0" err="1"/>
            <a:t>facebook</a:t>
          </a:r>
          <a:r>
            <a:rPr lang="en-US" dirty="0"/>
            <a:t>/</a:t>
          </a:r>
          <a:r>
            <a:rPr lang="en-US" dirty="0" err="1"/>
            <a:t>bart</a:t>
          </a:r>
          <a:r>
            <a:rPr lang="en-US" dirty="0"/>
            <a:t>-large-</a:t>
          </a:r>
          <a:r>
            <a:rPr lang="en-US" dirty="0" err="1"/>
            <a:t>cnn</a:t>
          </a:r>
          <a:r>
            <a:rPr lang="en-US" dirty="0"/>
            <a:t>, a pretrained transformer-based model designed for abstractive text summarization.</a:t>
          </a:r>
        </a:p>
      </dgm:t>
    </dgm:pt>
    <dgm:pt modelId="{A4EA6979-3114-4B17-850C-3D8F7A942B53}" type="parTrans" cxnId="{826C765C-C68D-433B-B730-C8DDCA7B8312}">
      <dgm:prSet/>
      <dgm:spPr/>
      <dgm:t>
        <a:bodyPr/>
        <a:lstStyle/>
        <a:p>
          <a:endParaRPr lang="en-US"/>
        </a:p>
      </dgm:t>
    </dgm:pt>
    <dgm:pt modelId="{81C483F6-3EA2-4244-B189-0E423D339BB3}" type="sibTrans" cxnId="{826C765C-C68D-433B-B730-C8DDCA7B8312}">
      <dgm:prSet/>
      <dgm:spPr/>
      <dgm:t>
        <a:bodyPr/>
        <a:lstStyle/>
        <a:p>
          <a:endParaRPr lang="en-US"/>
        </a:p>
      </dgm:t>
    </dgm:pt>
    <dgm:pt modelId="{1363C037-74C9-4606-97B9-80A3E2689503}">
      <dgm:prSet/>
      <dgm:spPr/>
      <dgm:t>
        <a:bodyPr/>
        <a:lstStyle/>
        <a:p>
          <a:r>
            <a:rPr lang="en-US" dirty="0"/>
            <a:t>BART is an encoder–decoder architecture that combines the strengths of BERT (understanding) and GPT (generation).</a:t>
          </a:r>
        </a:p>
      </dgm:t>
    </dgm:pt>
    <dgm:pt modelId="{BD09F215-B72A-40D9-9992-9221725B64F0}" type="parTrans" cxnId="{29AC7D71-A7C4-43AF-9465-F36AEF213D4C}">
      <dgm:prSet/>
      <dgm:spPr/>
      <dgm:t>
        <a:bodyPr/>
        <a:lstStyle/>
        <a:p>
          <a:endParaRPr lang="en-US"/>
        </a:p>
      </dgm:t>
    </dgm:pt>
    <dgm:pt modelId="{80A43B82-87AA-4F69-BA8F-B25CBA94656C}" type="sibTrans" cxnId="{29AC7D71-A7C4-43AF-9465-F36AEF213D4C}">
      <dgm:prSet/>
      <dgm:spPr/>
      <dgm:t>
        <a:bodyPr/>
        <a:lstStyle/>
        <a:p>
          <a:endParaRPr lang="en-US"/>
        </a:p>
      </dgm:t>
    </dgm:pt>
    <dgm:pt modelId="{735E442F-6472-4EB7-ABD1-3194B37011E1}">
      <dgm:prSet/>
      <dgm:spPr/>
      <dgm:t>
        <a:bodyPr/>
        <a:lstStyle/>
        <a:p>
          <a:r>
            <a:rPr lang="en-US" dirty="0"/>
            <a:t>The model is pretrained on large-scale denoising objectives and fine-tuned on CNN/</a:t>
          </a:r>
          <a:r>
            <a:rPr lang="en-US" dirty="0" err="1"/>
            <a:t>DailyMail</a:t>
          </a:r>
          <a:r>
            <a:rPr lang="en-US" dirty="0"/>
            <a:t> summarization data.</a:t>
          </a:r>
        </a:p>
      </dgm:t>
    </dgm:pt>
    <dgm:pt modelId="{A7495F4A-7390-409F-82B7-D96EE3A8C9E7}" type="parTrans" cxnId="{CE0BB87B-51CD-4C92-9DE3-6678D0E522DF}">
      <dgm:prSet/>
      <dgm:spPr/>
      <dgm:t>
        <a:bodyPr/>
        <a:lstStyle/>
        <a:p>
          <a:endParaRPr lang="en-US"/>
        </a:p>
      </dgm:t>
    </dgm:pt>
    <dgm:pt modelId="{36DF871E-06E4-4BEF-9775-8B3842468EB7}" type="sibTrans" cxnId="{CE0BB87B-51CD-4C92-9DE3-6678D0E522DF}">
      <dgm:prSet/>
      <dgm:spPr/>
      <dgm:t>
        <a:bodyPr/>
        <a:lstStyle/>
        <a:p>
          <a:endParaRPr lang="en-US"/>
        </a:p>
      </dgm:t>
    </dgm:pt>
    <dgm:pt modelId="{0E8AF26A-4878-4066-ADE6-1912D2AE3F02}">
      <dgm:prSet/>
      <dgm:spPr/>
      <dgm:t>
        <a:bodyPr/>
        <a:lstStyle/>
        <a:p>
          <a:r>
            <a:rPr lang="en-US" b="1"/>
            <a:t>Why BART for Earnings Calls</a:t>
          </a:r>
          <a:endParaRPr lang="en-US"/>
        </a:p>
      </dgm:t>
    </dgm:pt>
    <dgm:pt modelId="{39C8E669-CA9E-4CC5-B72E-EA055E14C191}" type="parTrans" cxnId="{30EDE8F4-0593-4662-B0A9-3BE669929F16}">
      <dgm:prSet/>
      <dgm:spPr/>
      <dgm:t>
        <a:bodyPr/>
        <a:lstStyle/>
        <a:p>
          <a:endParaRPr lang="en-US"/>
        </a:p>
      </dgm:t>
    </dgm:pt>
    <dgm:pt modelId="{6BE9E9BE-CDDA-42DB-A891-14BD9125403C}" type="sibTrans" cxnId="{30EDE8F4-0593-4662-B0A9-3BE669929F16}">
      <dgm:prSet/>
      <dgm:spPr/>
      <dgm:t>
        <a:bodyPr/>
        <a:lstStyle/>
        <a:p>
          <a:endParaRPr lang="en-US"/>
        </a:p>
      </dgm:t>
    </dgm:pt>
    <dgm:pt modelId="{A9616F09-5C86-4E7A-89A9-DF1E743A63AA}">
      <dgm:prSet/>
      <dgm:spPr/>
      <dgm:t>
        <a:bodyPr/>
        <a:lstStyle/>
        <a:p>
          <a:r>
            <a:rPr lang="en-US"/>
            <a:t>Capable of rewriting and compressing long passages into fluent summaries.</a:t>
          </a:r>
        </a:p>
      </dgm:t>
    </dgm:pt>
    <dgm:pt modelId="{62E48701-02B0-44FF-A57C-4B21FD72ACF7}" type="parTrans" cxnId="{74D9E079-C2DB-41CC-B7A4-A923E27A08D9}">
      <dgm:prSet/>
      <dgm:spPr/>
      <dgm:t>
        <a:bodyPr/>
        <a:lstStyle/>
        <a:p>
          <a:endParaRPr lang="en-US"/>
        </a:p>
      </dgm:t>
    </dgm:pt>
    <dgm:pt modelId="{17583BCB-9EA9-49B6-8D6D-2B4B3F753029}" type="sibTrans" cxnId="{74D9E079-C2DB-41CC-B7A4-A923E27A08D9}">
      <dgm:prSet/>
      <dgm:spPr/>
      <dgm:t>
        <a:bodyPr/>
        <a:lstStyle/>
        <a:p>
          <a:endParaRPr lang="en-US"/>
        </a:p>
      </dgm:t>
    </dgm:pt>
    <dgm:pt modelId="{7B32B4CD-27D6-40D9-A361-7F893A072C10}">
      <dgm:prSet/>
      <dgm:spPr/>
      <dgm:t>
        <a:bodyPr/>
        <a:lstStyle/>
        <a:p>
          <a:r>
            <a:rPr lang="en-US" dirty="0"/>
            <a:t>Well-suited for news-style and report-style text, which is similar to earnings call narratives.</a:t>
          </a:r>
        </a:p>
      </dgm:t>
    </dgm:pt>
    <dgm:pt modelId="{F56BBE41-87D0-4999-8F3D-778028C86E47}" type="parTrans" cxnId="{562D3BE6-67A1-4B04-A6BD-D298D073BE4A}">
      <dgm:prSet/>
      <dgm:spPr/>
      <dgm:t>
        <a:bodyPr/>
        <a:lstStyle/>
        <a:p>
          <a:endParaRPr lang="en-US"/>
        </a:p>
      </dgm:t>
    </dgm:pt>
    <dgm:pt modelId="{B09253EE-AB6D-46F2-BB55-79723A434BFC}" type="sibTrans" cxnId="{562D3BE6-67A1-4B04-A6BD-D298D073BE4A}">
      <dgm:prSet/>
      <dgm:spPr/>
      <dgm:t>
        <a:bodyPr/>
        <a:lstStyle/>
        <a:p>
          <a:endParaRPr lang="en-US"/>
        </a:p>
      </dgm:t>
    </dgm:pt>
    <dgm:pt modelId="{8B08ABF6-BE63-42C1-B4C4-BAFC9F5F2985}">
      <dgm:prSet/>
      <dgm:spPr/>
      <dgm:t>
        <a:bodyPr/>
        <a:lstStyle/>
        <a:p>
          <a:r>
            <a:rPr lang="en-US" dirty="0"/>
            <a:t>Widely adopted benchmark model, making experimental results easier to interpret and compare.</a:t>
          </a:r>
        </a:p>
      </dgm:t>
    </dgm:pt>
    <dgm:pt modelId="{ABA34395-7963-40C6-B725-99FFC8F61E7A}" type="parTrans" cxnId="{C317E836-4198-47A2-B4D3-0F4F6C709766}">
      <dgm:prSet/>
      <dgm:spPr/>
      <dgm:t>
        <a:bodyPr/>
        <a:lstStyle/>
        <a:p>
          <a:endParaRPr lang="en-US"/>
        </a:p>
      </dgm:t>
    </dgm:pt>
    <dgm:pt modelId="{9EFBB26C-56F9-4DC4-B06C-CBBB31FBBFFD}" type="sibTrans" cxnId="{C317E836-4198-47A2-B4D3-0F4F6C709766}">
      <dgm:prSet/>
      <dgm:spPr/>
      <dgm:t>
        <a:bodyPr/>
        <a:lstStyle/>
        <a:p>
          <a:endParaRPr lang="en-US"/>
        </a:p>
      </dgm:t>
    </dgm:pt>
    <dgm:pt modelId="{9FA2F9AF-49D3-4963-A2B2-5449844BCDA9}" type="pres">
      <dgm:prSet presAssocID="{698B0B61-D380-4CBE-8126-6841A3DD7D5A}" presName="diagram" presStyleCnt="0">
        <dgm:presLayoutVars>
          <dgm:dir/>
          <dgm:resizeHandles val="exact"/>
        </dgm:presLayoutVars>
      </dgm:prSet>
      <dgm:spPr/>
    </dgm:pt>
    <dgm:pt modelId="{CFF5D034-49E8-49EC-AC8A-46BE8B1E347E}" type="pres">
      <dgm:prSet presAssocID="{C2667F12-7FC2-4812-B576-8D121EA189A1}" presName="node" presStyleLbl="node1" presStyleIdx="0" presStyleCnt="2">
        <dgm:presLayoutVars>
          <dgm:bulletEnabled val="1"/>
        </dgm:presLayoutVars>
      </dgm:prSet>
      <dgm:spPr/>
    </dgm:pt>
    <dgm:pt modelId="{E12213A9-51A7-4066-BD5A-7515699E39AC}" type="pres">
      <dgm:prSet presAssocID="{8ED394DA-14BB-4285-B49C-3C54410F4FE2}" presName="sibTrans" presStyleCnt="0"/>
      <dgm:spPr/>
    </dgm:pt>
    <dgm:pt modelId="{6692FA7F-45A4-471D-B6D8-7CDE7C339905}" type="pres">
      <dgm:prSet presAssocID="{0E8AF26A-4878-4066-ADE6-1912D2AE3F02}" presName="node" presStyleLbl="node1" presStyleIdx="1" presStyleCnt="2">
        <dgm:presLayoutVars>
          <dgm:bulletEnabled val="1"/>
        </dgm:presLayoutVars>
      </dgm:prSet>
      <dgm:spPr/>
    </dgm:pt>
  </dgm:ptLst>
  <dgm:cxnLst>
    <dgm:cxn modelId="{A7C7C30C-E15A-426C-B7DF-0652828DE1F4}" type="presOf" srcId="{A9616F09-5C86-4E7A-89A9-DF1E743A63AA}" destId="{6692FA7F-45A4-471D-B6D8-7CDE7C339905}" srcOrd="0" destOrd="1" presId="urn:microsoft.com/office/officeart/2005/8/layout/default"/>
    <dgm:cxn modelId="{8B089917-FC0D-482E-9AAA-7BECEF7099B8}" type="presOf" srcId="{C2667F12-7FC2-4812-B576-8D121EA189A1}" destId="{CFF5D034-49E8-49EC-AC8A-46BE8B1E347E}" srcOrd="0" destOrd="0" presId="urn:microsoft.com/office/officeart/2005/8/layout/default"/>
    <dgm:cxn modelId="{C317E836-4198-47A2-B4D3-0F4F6C709766}" srcId="{0E8AF26A-4878-4066-ADE6-1912D2AE3F02}" destId="{8B08ABF6-BE63-42C1-B4C4-BAFC9F5F2985}" srcOrd="2" destOrd="0" parTransId="{ABA34395-7963-40C6-B725-99FFC8F61E7A}" sibTransId="{9EFBB26C-56F9-4DC4-B06C-CBBB31FBBFFD}"/>
    <dgm:cxn modelId="{826C765C-C68D-433B-B730-C8DDCA7B8312}" srcId="{C2667F12-7FC2-4812-B576-8D121EA189A1}" destId="{63701E0D-084A-43CC-89CB-87F5DA9BB9D1}" srcOrd="0" destOrd="0" parTransId="{A4EA6979-3114-4B17-850C-3D8F7A942B53}" sibTransId="{81C483F6-3EA2-4244-B189-0E423D339BB3}"/>
    <dgm:cxn modelId="{29AC7D71-A7C4-43AF-9465-F36AEF213D4C}" srcId="{C2667F12-7FC2-4812-B576-8D121EA189A1}" destId="{1363C037-74C9-4606-97B9-80A3E2689503}" srcOrd="1" destOrd="0" parTransId="{BD09F215-B72A-40D9-9992-9221725B64F0}" sibTransId="{80A43B82-87AA-4F69-BA8F-B25CBA94656C}"/>
    <dgm:cxn modelId="{CDAEF477-9B06-45FA-B8FD-DAA43975A836}" type="presOf" srcId="{0E8AF26A-4878-4066-ADE6-1912D2AE3F02}" destId="{6692FA7F-45A4-471D-B6D8-7CDE7C339905}" srcOrd="0" destOrd="0" presId="urn:microsoft.com/office/officeart/2005/8/layout/default"/>
    <dgm:cxn modelId="{74D9E079-C2DB-41CC-B7A4-A923E27A08D9}" srcId="{0E8AF26A-4878-4066-ADE6-1912D2AE3F02}" destId="{A9616F09-5C86-4E7A-89A9-DF1E743A63AA}" srcOrd="0" destOrd="0" parTransId="{62E48701-02B0-44FF-A57C-4B21FD72ACF7}" sibTransId="{17583BCB-9EA9-49B6-8D6D-2B4B3F753029}"/>
    <dgm:cxn modelId="{CE0BB87B-51CD-4C92-9DE3-6678D0E522DF}" srcId="{C2667F12-7FC2-4812-B576-8D121EA189A1}" destId="{735E442F-6472-4EB7-ABD1-3194B37011E1}" srcOrd="2" destOrd="0" parTransId="{A7495F4A-7390-409F-82B7-D96EE3A8C9E7}" sibTransId="{36DF871E-06E4-4BEF-9775-8B3842468EB7}"/>
    <dgm:cxn modelId="{60499489-020D-4205-B660-937C9841FECF}" type="presOf" srcId="{7B32B4CD-27D6-40D9-A361-7F893A072C10}" destId="{6692FA7F-45A4-471D-B6D8-7CDE7C339905}" srcOrd="0" destOrd="2" presId="urn:microsoft.com/office/officeart/2005/8/layout/default"/>
    <dgm:cxn modelId="{A3A5C989-1CF5-4671-B86E-23F3704AD96B}" type="presOf" srcId="{698B0B61-D380-4CBE-8126-6841A3DD7D5A}" destId="{9FA2F9AF-49D3-4963-A2B2-5449844BCDA9}" srcOrd="0" destOrd="0" presId="urn:microsoft.com/office/officeart/2005/8/layout/default"/>
    <dgm:cxn modelId="{D2EFD392-2110-4468-BBB1-7DE68BD3C7CB}" srcId="{698B0B61-D380-4CBE-8126-6841A3DD7D5A}" destId="{C2667F12-7FC2-4812-B576-8D121EA189A1}" srcOrd="0" destOrd="0" parTransId="{B9778D1E-7FDA-4F7E-A829-E98046CBD16E}" sibTransId="{8ED394DA-14BB-4285-B49C-3C54410F4FE2}"/>
    <dgm:cxn modelId="{974957A9-4A1E-46B2-92AE-27840E8206C4}" type="presOf" srcId="{735E442F-6472-4EB7-ABD1-3194B37011E1}" destId="{CFF5D034-49E8-49EC-AC8A-46BE8B1E347E}" srcOrd="0" destOrd="3" presId="urn:microsoft.com/office/officeart/2005/8/layout/default"/>
    <dgm:cxn modelId="{C06187CB-9E60-44FB-9F29-5D944301343A}" type="presOf" srcId="{63701E0D-084A-43CC-89CB-87F5DA9BB9D1}" destId="{CFF5D034-49E8-49EC-AC8A-46BE8B1E347E}" srcOrd="0" destOrd="1" presId="urn:microsoft.com/office/officeart/2005/8/layout/default"/>
    <dgm:cxn modelId="{927645DA-314A-47E6-B116-16B744C80A29}" type="presOf" srcId="{1363C037-74C9-4606-97B9-80A3E2689503}" destId="{CFF5D034-49E8-49EC-AC8A-46BE8B1E347E}" srcOrd="0" destOrd="2" presId="urn:microsoft.com/office/officeart/2005/8/layout/default"/>
    <dgm:cxn modelId="{07C82FDE-DDB2-4467-BC2D-763A6B81F64C}" type="presOf" srcId="{8B08ABF6-BE63-42C1-B4C4-BAFC9F5F2985}" destId="{6692FA7F-45A4-471D-B6D8-7CDE7C339905}" srcOrd="0" destOrd="3" presId="urn:microsoft.com/office/officeart/2005/8/layout/default"/>
    <dgm:cxn modelId="{562D3BE6-67A1-4B04-A6BD-D298D073BE4A}" srcId="{0E8AF26A-4878-4066-ADE6-1912D2AE3F02}" destId="{7B32B4CD-27D6-40D9-A361-7F893A072C10}" srcOrd="1" destOrd="0" parTransId="{F56BBE41-87D0-4999-8F3D-778028C86E47}" sibTransId="{B09253EE-AB6D-46F2-BB55-79723A434BFC}"/>
    <dgm:cxn modelId="{30EDE8F4-0593-4662-B0A9-3BE669929F16}" srcId="{698B0B61-D380-4CBE-8126-6841A3DD7D5A}" destId="{0E8AF26A-4878-4066-ADE6-1912D2AE3F02}" srcOrd="1" destOrd="0" parTransId="{39C8E669-CA9E-4CC5-B72E-EA055E14C191}" sibTransId="{6BE9E9BE-CDDA-42DB-A891-14BD9125403C}"/>
    <dgm:cxn modelId="{261D96CB-D89B-424C-A121-F2B1688DE111}" type="presParOf" srcId="{9FA2F9AF-49D3-4963-A2B2-5449844BCDA9}" destId="{CFF5D034-49E8-49EC-AC8A-46BE8B1E347E}" srcOrd="0" destOrd="0" presId="urn:microsoft.com/office/officeart/2005/8/layout/default"/>
    <dgm:cxn modelId="{F50E03EA-5C87-4424-9C7E-83C3116DD1C4}" type="presParOf" srcId="{9FA2F9AF-49D3-4963-A2B2-5449844BCDA9}" destId="{E12213A9-51A7-4066-BD5A-7515699E39AC}" srcOrd="1" destOrd="0" presId="urn:microsoft.com/office/officeart/2005/8/layout/default"/>
    <dgm:cxn modelId="{817E82AA-A757-4F7B-BACB-681F30181F1A}" type="presParOf" srcId="{9FA2F9AF-49D3-4963-A2B2-5449844BCDA9}" destId="{6692FA7F-45A4-471D-B6D8-7CDE7C339905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68BDF7-9BA6-47C9-9568-B5A91403B696}">
      <dsp:nvSpPr>
        <dsp:cNvPr id="0" name=""/>
        <dsp:cNvSpPr/>
      </dsp:nvSpPr>
      <dsp:spPr>
        <a:xfrm>
          <a:off x="0" y="1376"/>
          <a:ext cx="103312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F80A8C-8B7F-4A3A-AF28-167C183C228A}">
      <dsp:nvSpPr>
        <dsp:cNvPr id="0" name=""/>
        <dsp:cNvSpPr/>
      </dsp:nvSpPr>
      <dsp:spPr>
        <a:xfrm>
          <a:off x="2192600" y="0"/>
          <a:ext cx="5971624" cy="570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Two ways of Extractive Summarization</a:t>
          </a:r>
          <a:endParaRPr lang="en-US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92600" y="0"/>
        <a:ext cx="5971624" cy="570366"/>
      </dsp:txXfrm>
    </dsp:sp>
    <dsp:sp modelId="{CEC1F4C1-61D2-47EF-911D-DC05D07364C5}">
      <dsp:nvSpPr>
        <dsp:cNvPr id="0" name=""/>
        <dsp:cNvSpPr/>
      </dsp:nvSpPr>
      <dsp:spPr>
        <a:xfrm>
          <a:off x="0" y="571742"/>
          <a:ext cx="103312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FF48E5-D1A8-4973-B1FF-04FB05D4B893}">
      <dsp:nvSpPr>
        <dsp:cNvPr id="0" name=""/>
        <dsp:cNvSpPr/>
      </dsp:nvSpPr>
      <dsp:spPr>
        <a:xfrm>
          <a:off x="0" y="571742"/>
          <a:ext cx="2066249" cy="1173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TF-IDF-based</a:t>
          </a:r>
          <a:endParaRPr lang="en-US" sz="2700" kern="1200" dirty="0"/>
        </a:p>
      </dsp:txBody>
      <dsp:txXfrm>
        <a:off x="0" y="571742"/>
        <a:ext cx="2066249" cy="1173327"/>
      </dsp:txXfrm>
    </dsp:sp>
    <dsp:sp modelId="{94590C47-E903-4A0B-A57C-96DD94858188}">
      <dsp:nvSpPr>
        <dsp:cNvPr id="0" name=""/>
        <dsp:cNvSpPr/>
      </dsp:nvSpPr>
      <dsp:spPr>
        <a:xfrm>
          <a:off x="2221217" y="599013"/>
          <a:ext cx="8110027" cy="545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Highlights </a:t>
          </a:r>
          <a:r>
            <a:rPr lang="en-US" sz="1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key financial keywords</a:t>
          </a: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such as revenue, growth, guidance, margins.</a:t>
          </a:r>
        </a:p>
      </dsp:txBody>
      <dsp:txXfrm>
        <a:off x="2221217" y="599013"/>
        <a:ext cx="8110027" cy="545413"/>
      </dsp:txXfrm>
    </dsp:sp>
    <dsp:sp modelId="{50B837DD-7D66-4162-BB77-8592E571088C}">
      <dsp:nvSpPr>
        <dsp:cNvPr id="0" name=""/>
        <dsp:cNvSpPr/>
      </dsp:nvSpPr>
      <dsp:spPr>
        <a:xfrm>
          <a:off x="2066249" y="1144427"/>
          <a:ext cx="82649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86A60-838D-4BC2-BACF-C133B183E952}">
      <dsp:nvSpPr>
        <dsp:cNvPr id="0" name=""/>
        <dsp:cNvSpPr/>
      </dsp:nvSpPr>
      <dsp:spPr>
        <a:xfrm>
          <a:off x="2221217" y="1171698"/>
          <a:ext cx="8110027" cy="545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Sensitive to domain-specific vocabulary in earnings calls.</a:t>
          </a:r>
        </a:p>
      </dsp:txBody>
      <dsp:txXfrm>
        <a:off x="2221217" y="1171698"/>
        <a:ext cx="8110027" cy="545413"/>
      </dsp:txXfrm>
    </dsp:sp>
    <dsp:sp modelId="{2093CD9B-66A8-48A3-B778-224078B02180}">
      <dsp:nvSpPr>
        <dsp:cNvPr id="0" name=""/>
        <dsp:cNvSpPr/>
      </dsp:nvSpPr>
      <dsp:spPr>
        <a:xfrm>
          <a:off x="2066249" y="1717111"/>
          <a:ext cx="82649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D715CB-BCAD-413A-8EA4-A178DD43D9DC}">
      <dsp:nvSpPr>
        <dsp:cNvPr id="0" name=""/>
        <dsp:cNvSpPr/>
      </dsp:nvSpPr>
      <dsp:spPr>
        <a:xfrm>
          <a:off x="0" y="1745070"/>
          <a:ext cx="103312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03A56-77C5-475A-8B8B-3AF8006D4424}">
      <dsp:nvSpPr>
        <dsp:cNvPr id="0" name=""/>
        <dsp:cNvSpPr/>
      </dsp:nvSpPr>
      <dsp:spPr>
        <a:xfrm>
          <a:off x="0" y="1745070"/>
          <a:ext cx="2066249" cy="1173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 err="1"/>
            <a:t>TextRank</a:t>
          </a:r>
          <a:r>
            <a:rPr lang="en-US" sz="2700" b="1" kern="1200" dirty="0"/>
            <a:t>-based</a:t>
          </a:r>
          <a:endParaRPr lang="en-US" sz="2700" kern="1200" dirty="0"/>
        </a:p>
      </dsp:txBody>
      <dsp:txXfrm>
        <a:off x="0" y="1745070"/>
        <a:ext cx="2066249" cy="1173327"/>
      </dsp:txXfrm>
    </dsp:sp>
    <dsp:sp modelId="{2D44E12D-5D75-40B2-9A42-625F6800814C}">
      <dsp:nvSpPr>
        <dsp:cNvPr id="0" name=""/>
        <dsp:cNvSpPr/>
      </dsp:nvSpPr>
      <dsp:spPr>
        <a:xfrm>
          <a:off x="2221217" y="1772340"/>
          <a:ext cx="8110027" cy="545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Selects sentences that best </a:t>
          </a:r>
          <a:r>
            <a:rPr lang="en-US" sz="1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represent the central themes</a:t>
          </a: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of the transcript.</a:t>
          </a:r>
        </a:p>
      </dsp:txBody>
      <dsp:txXfrm>
        <a:off x="2221217" y="1772340"/>
        <a:ext cx="8110027" cy="545413"/>
      </dsp:txXfrm>
    </dsp:sp>
    <dsp:sp modelId="{9302113C-A5AC-44E8-842D-C55C9DD770D7}">
      <dsp:nvSpPr>
        <dsp:cNvPr id="0" name=""/>
        <dsp:cNvSpPr/>
      </dsp:nvSpPr>
      <dsp:spPr>
        <a:xfrm>
          <a:off x="2066249" y="2317754"/>
          <a:ext cx="82649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E299A3-5A81-436B-A464-43E1B75E94EF}">
      <dsp:nvSpPr>
        <dsp:cNvPr id="0" name=""/>
        <dsp:cNvSpPr/>
      </dsp:nvSpPr>
      <dsp:spPr>
        <a:xfrm>
          <a:off x="2221217" y="2345025"/>
          <a:ext cx="8110027" cy="545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Less dependent on individual keywords and more on sentence-to-sentence connections.</a:t>
          </a:r>
        </a:p>
      </dsp:txBody>
      <dsp:txXfrm>
        <a:off x="2221217" y="2345025"/>
        <a:ext cx="8110027" cy="545413"/>
      </dsp:txXfrm>
    </dsp:sp>
    <dsp:sp modelId="{F25DB386-11D3-43FA-A3CE-36D4BB7C4607}">
      <dsp:nvSpPr>
        <dsp:cNvPr id="0" name=""/>
        <dsp:cNvSpPr/>
      </dsp:nvSpPr>
      <dsp:spPr>
        <a:xfrm>
          <a:off x="2066249" y="2890438"/>
          <a:ext cx="82649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F5D034-49E8-49EC-AC8A-46BE8B1E347E}">
      <dsp:nvSpPr>
        <dsp:cNvPr id="0" name=""/>
        <dsp:cNvSpPr/>
      </dsp:nvSpPr>
      <dsp:spPr>
        <a:xfrm>
          <a:off x="1312" y="530868"/>
          <a:ext cx="5119717" cy="3071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Model Overview</a:t>
          </a:r>
          <a:endParaRPr lang="en-US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Used </a:t>
          </a:r>
          <a:r>
            <a:rPr lang="en-US" sz="1600" kern="1200" dirty="0" err="1"/>
            <a:t>facebook</a:t>
          </a:r>
          <a:r>
            <a:rPr lang="en-US" sz="1600" kern="1200" dirty="0"/>
            <a:t>/</a:t>
          </a:r>
          <a:r>
            <a:rPr lang="en-US" sz="1600" kern="1200" dirty="0" err="1"/>
            <a:t>bart</a:t>
          </a:r>
          <a:r>
            <a:rPr lang="en-US" sz="1600" kern="1200" dirty="0"/>
            <a:t>-large-</a:t>
          </a:r>
          <a:r>
            <a:rPr lang="en-US" sz="1600" kern="1200" dirty="0" err="1"/>
            <a:t>cnn</a:t>
          </a:r>
          <a:r>
            <a:rPr lang="en-US" sz="1600" kern="1200" dirty="0"/>
            <a:t>, a pretrained transformer-based model designed for abstractive text summarization.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BART is an encoder–decoder architecture that combines the strengths of BERT (understanding) and GPT (generation).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The model is pretrained on large-scale denoising objectives and fine-tuned on CNN/</a:t>
          </a:r>
          <a:r>
            <a:rPr lang="en-US" sz="1600" kern="1200" dirty="0" err="1"/>
            <a:t>DailyMail</a:t>
          </a:r>
          <a:r>
            <a:rPr lang="en-US" sz="1600" kern="1200" dirty="0"/>
            <a:t> summarization data.</a:t>
          </a:r>
        </a:p>
      </dsp:txBody>
      <dsp:txXfrm>
        <a:off x="1312" y="530868"/>
        <a:ext cx="5119717" cy="3071830"/>
      </dsp:txXfrm>
    </dsp:sp>
    <dsp:sp modelId="{6692FA7F-45A4-471D-B6D8-7CDE7C339905}">
      <dsp:nvSpPr>
        <dsp:cNvPr id="0" name=""/>
        <dsp:cNvSpPr/>
      </dsp:nvSpPr>
      <dsp:spPr>
        <a:xfrm>
          <a:off x="5633002" y="530868"/>
          <a:ext cx="5119717" cy="3071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Why BART for Earnings Calls</a:t>
          </a:r>
          <a:endParaRPr lang="en-US" sz="21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Capable of rewriting and compressing long passages into fluent summaries.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Well-suited for news-style and report-style text, which is similar to earnings call narratives.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Widely adopted benchmark model, making experimental results easier to interpret and compare.</a:t>
          </a:r>
        </a:p>
      </dsp:txBody>
      <dsp:txXfrm>
        <a:off x="5633002" y="530868"/>
        <a:ext cx="5119717" cy="30718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B55ED6-9047-4583-8A89-035A9D586703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7EFCF2-4A31-4CCB-AA00-F3FC1FDAB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890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7EFCF2-4A31-4CCB-AA00-F3FC1FDAB40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554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1A785-2873-D46A-74C7-03D51CD33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E8D2D-36CE-2E7C-4837-72705613E8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E738F-B6B0-7590-4506-03B436348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D9C2-CCFB-46C5-9113-212FF46D1006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632E6-C578-6A90-5499-9D4671FDA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CE356-E6B4-F1AD-F977-28583859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020A-A540-4655-8A0B-E20D2D9A8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439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96414-C566-20A0-A6CA-4A10A9E0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BE6B7-FCBB-C97D-324E-F8C6C842C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8C925-2458-C15C-763E-294EC9074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D9C2-CCFB-46C5-9113-212FF46D1006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F3FF5-3733-4C2C-B574-37607FDB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4C8FB-FA39-3D68-6FEC-7A37A1EC8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020A-A540-4655-8A0B-E20D2D9A8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FCC4-DD33-B762-1C29-B935B012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C22D0-FE9E-375B-5F51-7DBFE0E11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6AE50-D2FD-93A6-4FFD-E803FE7C7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D9C2-CCFB-46C5-9113-212FF46D1006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88EBD-3EE2-C9D4-8683-B79C5D0AC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11BF0-8ED6-894E-E8BE-42A24B283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020A-A540-4655-8A0B-E20D2D9A8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196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4F228-9462-8386-F074-EE4C6227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F077-86FF-6552-669F-49B135444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F4A0C-0E37-2364-A392-EB716BE77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50415-1AE7-6B16-8835-2CCE8B6B5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D9C2-CCFB-46C5-9113-212FF46D1006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5720F-7083-0A4F-820B-0216EAD34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7C369-8FA9-CDBB-7CD7-8480E3194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020A-A540-4655-8A0B-E20D2D9A8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197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09E7C-999A-E634-B724-5D33FE36C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B8516-6016-DD8C-96D3-059105C35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32E87-226B-AD9F-939C-1BF798022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695E79-B87F-ADE5-211C-CDE5E2CC9B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AEB629-5FF7-6F20-9C7C-A4ECF0413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5162BC-A5AF-B902-919F-1BDF25261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D9C2-CCFB-46C5-9113-212FF46D1006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DD9D4D-3461-C052-ADC1-7575F9A91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607611-1FEC-6799-803F-FA5C36AD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020A-A540-4655-8A0B-E20D2D9A8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947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6B895-79EF-3018-FF93-960E8D894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A6B1DD-D68F-89C4-BDE6-0F8FB462D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D9C2-CCFB-46C5-9113-212FF46D1006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200AF8-C9F0-C753-0690-5421C49C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370572-D12F-1092-63F2-7BAB28097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020A-A540-4655-8A0B-E20D2D9A8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979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088AC3-037B-57BC-505B-4F7639D2B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D9C2-CCFB-46C5-9113-212FF46D1006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601433-8BAD-84A2-7291-0324D38A1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CEE21-5C4C-2297-29F1-16DB0BD32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020A-A540-4655-8A0B-E20D2D9A8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1124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A846A-1B92-433F-431B-7AD140CFC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AFA63-8A6E-B839-D385-582EDD332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1FB52-7A3C-8C4A-5EB2-B568DAEA3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A37FB-0475-2EAC-E55F-81C316B3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D9C2-CCFB-46C5-9113-212FF46D1006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1D0EB-B7A4-B7DE-C4E4-E4675AE69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F2E02-E88C-9500-E64C-71DCBC64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020A-A540-4655-8A0B-E20D2D9A8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841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6F0F-B77B-92DB-B548-1562994E1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660485-6D82-5301-2540-4A1619796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217B0-E783-47BE-223B-7FEA52B3D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33C4C-ABF1-01ED-95E7-CA4C399ED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D9C2-CCFB-46C5-9113-212FF46D1006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E0780-462E-BE05-4DBF-CA74F34D5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3F25B-C398-4617-BA8D-8AA3C4A4E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020A-A540-4655-8A0B-E20D2D9A8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864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BCA11-B8FA-6669-ACF1-DAC19FAB0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BDEC7A-C5A2-AC81-28D0-3F018CBA9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1F1B4-5F2A-5A73-52EC-7E88464B0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D9C2-CCFB-46C5-9113-212FF46D1006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19437-BDA8-C0AD-97E8-4AF1B2047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2C665-93D4-BFB3-847B-6668C79FC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020A-A540-4655-8A0B-E20D2D9A8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374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D1184D-A110-CA01-636D-A11F6B6674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E6774-498B-FC42-B959-E486BD8FC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899F4-981C-1226-6131-E29292012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D9C2-CCFB-46C5-9113-212FF46D1006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6E804-A691-5CEB-12F3-BC7578F4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66B6B-5A16-6AF3-6D99-E6126BB98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020A-A540-4655-8A0B-E20D2D9A8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413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868000-89F4-D864-01F1-2EB2967F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4717A-6D12-A8B3-CC29-B5CD596D6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55612-0D9F-95AE-3C83-DE6B53964D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A5D9C2-CCFB-46C5-9113-212FF46D1006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CFCF7-8CF5-980F-E69A-57B8D9E81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1E825-6488-70FF-4CEB-01CD3C2D5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85020A-A540-4655-8A0B-E20D2D9A8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12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eekingalpha.com/article/4835951-apple-inc-aapl-q4-2025-earnings-call-transcrip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kaggle.com/datasets/tpotterer/motley-fool-scraped-earnings-call-transcript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D2799F-36CA-4FBA-4A5B-A3E3C9BEB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altLang="zh-C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Summarization of Corporate Earnings Call Transcripts</a:t>
            </a:r>
            <a:endParaRPr lang="zh-CN" alt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46CDA-960E-C0D4-8ABF-99E590CE4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Motley Fool Scraped Earnings Call Data for Financial NLP</a:t>
            </a:r>
          </a:p>
          <a:p>
            <a:pPr algn="l"/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Strong Sizhi Chen</a:t>
            </a:r>
          </a:p>
          <a:p>
            <a:pPr algn="l"/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CS 6120</a:t>
            </a:r>
            <a:endParaRPr lang="zh-CN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13621A37-6FE2-50BE-8D45-2C2331EDC2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82" r="2387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203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7E71B8-6ED0-22EE-499B-0926293E1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altLang="zh-CN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46802-10C5-D6D1-2F4A-2FEEE7645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Earnings calls are long and information-dense meetings where company executives discuss financial results and answer analyst questions.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Investors and analysts often do not have time to read full transcripts.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text summarization can help extract key insights quickly and consistently.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I explore how modern NLP models can summarize earnings call transcripts from The Motley Fool.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2010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1E42A-6AB8-359C-EF03-86F814129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Being Studied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06CD5-B976-561B-F0E6-04A6F0B19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generate concise, readable summaries of earnings call transcripts.</a:t>
            </a:r>
            <a:endParaRPr lang="zh-CN" altLang="zh-C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long, noisy transcript (multiple speakers, Q&amp;A, disclaimers).</a:t>
            </a:r>
            <a:endParaRPr lang="zh-CN" altLang="zh-C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short summary that captures the main financial results, guidance, and key themes.</a:t>
            </a:r>
            <a:endParaRPr lang="zh-CN" altLang="zh-C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questions:</a:t>
            </a:r>
            <a:endParaRPr lang="zh-CN" altLang="zh-C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well can NLP models summarize long financial texts?</a:t>
            </a:r>
            <a:endParaRPr lang="zh-CN" altLang="zh-C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abstractive models (e.g., transformers) outperform simple baselines?</a:t>
            </a:r>
            <a:endParaRPr lang="zh-CN" altLang="zh-C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trade-offs between summary length and informativeness?</a:t>
            </a:r>
            <a:endParaRPr lang="zh-CN" altLang="zh-C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706571CF-3F61-D4FB-FC3E-B35F5BD9D2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00" r="39364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8674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30A219-3F0F-662D-9A0C-D60ADC540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19" y="436504"/>
            <a:ext cx="11186249" cy="71417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zh-CN" sz="3500" b="1" kern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Example: Apple’s Earnings Call (Recent Quarter)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34F4DA-E980-96D0-BE3E-F48E537D6252}"/>
              </a:ext>
            </a:extLst>
          </p:cNvPr>
          <p:cNvSpPr txBox="1"/>
          <p:nvPr/>
        </p:nvSpPr>
        <p:spPr>
          <a:xfrm>
            <a:off x="6528042" y="1555315"/>
            <a:ext cx="4805691" cy="35663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</a:pPr>
            <a:r>
              <a:rPr lang="en-US" altLang="zh-CN" sz="2000" b="1" kern="12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Transcript Snippet (Apple)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</a:pPr>
            <a:r>
              <a:rPr lang="en-US" altLang="zh-CN" sz="1500" i="1" kern="12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“Good afternoon and welcome to Apple’s earnings conference call. Today, Apple reported strong performance driven by iPhone and Services, despite a challenging macroeconomic environment. We remain focused on long-term innovation and customer satisfaction.”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</a:pPr>
            <a:r>
              <a:rPr lang="en-US" altLang="zh-CN" sz="1500" kern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excerpt is only a small fraction of the full transcript, which spans multiple topics and speakers.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</a:pPr>
            <a:r>
              <a:rPr lang="en-US" altLang="zh-CN" sz="1000" kern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Link: </a:t>
            </a:r>
            <a:r>
              <a:rPr lang="en-US" altLang="zh-CN" sz="1000" kern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https://seekingalpha.com/article/4835951-apple-inc-aapl-q4-2025-earnings-call-transcript</a:t>
            </a:r>
            <a:endParaRPr lang="en-US" altLang="zh-CN" sz="1000" kern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</a:pPr>
            <a:endParaRPr lang="en-US" altLang="zh-CN" sz="2000" kern="1200" dirty="0"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0546BDF-79BB-E899-2F03-0CA01C371686}"/>
              </a:ext>
            </a:extLst>
          </p:cNvPr>
          <p:cNvSpPr txBox="1"/>
          <p:nvPr/>
        </p:nvSpPr>
        <p:spPr>
          <a:xfrm>
            <a:off x="572729" y="1558304"/>
            <a:ext cx="5159477" cy="4710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data matters?</a:t>
            </a:r>
            <a:endParaRPr lang="en-US" altLang="zh-CN" sz="2000" b="1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Apple’s earnings calls are closely followed by investors worldwide.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 single quarterly call can exceed 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10,000 words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covering: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CN" sz="15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Financial performance across multiple product lines</a:t>
            </a:r>
            <a:endParaRPr lang="zh-CN" altLang="zh-CN" sz="15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CN" sz="15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Regional revenue trends</a:t>
            </a:r>
            <a:endParaRPr lang="zh-CN" altLang="zh-CN" sz="15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CN" sz="15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Future guidance and strategic priorities</a:t>
            </a:r>
            <a:endParaRPr lang="zh-CN" altLang="zh-CN" sz="15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CN" sz="15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Analyst questions on risks and outlook</a:t>
            </a:r>
            <a:endParaRPr lang="zh-CN" altLang="zh-CN" sz="15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Important insights are often scattered across: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CN" sz="15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Prepared management remarks</a:t>
            </a:r>
            <a:endParaRPr lang="zh-CN" altLang="zh-CN" sz="15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CN" sz="15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 long and complex Q&amp;A session</a:t>
            </a:r>
          </a:p>
        </p:txBody>
      </p:sp>
    </p:spTree>
    <p:extLst>
      <p:ext uri="{BB962C8B-B14F-4D97-AF65-F5344CB8AC3E}">
        <p14:creationId xmlns:p14="http://schemas.microsoft.com/office/powerpoint/2010/main" val="170053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BCC211-32BA-F0B3-DD80-5CD67CB8C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Datasets Are You Using?</a:t>
            </a:r>
            <a:endParaRPr lang="zh-CN" altLang="en-US" sz="5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33014-2AD2-B12F-410F-51BBDBB1C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dataset: 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Motley Fool Scraped Earnings Call Transcripts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(Kaggle).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scraped earnings call transcripts from The Motley Fool website.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record includes: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the call released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name / ticker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fiscal quarter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call transcript as text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 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https://www.kaggle.com/datasets/tpotterer/motley-fool-scraped-earnings-call-transcripts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95DA24-7241-6EF3-81D0-725890F8D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057206"/>
            <a:ext cx="10853928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034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15359-E327-2B2D-A55F-2B833BB3C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Extractive Summarization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2E9EB6-3AE3-D751-E621-60061B0E9D2C}"/>
              </a:ext>
            </a:extLst>
          </p:cNvPr>
          <p:cNvSpPr txBox="1"/>
          <p:nvPr/>
        </p:nvSpPr>
        <p:spPr>
          <a:xfrm>
            <a:off x="838200" y="1690688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Extractive Summarization?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Extractive summarization selects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sentences directly from the original transcript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summary consists only of text that already appears in the earnings call.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is simple, interpretable, and serves as a strong baseline.</a:t>
            </a:r>
          </a:p>
        </p:txBody>
      </p:sp>
      <p:graphicFrame>
        <p:nvGraphicFramePr>
          <p:cNvPr id="11" name="TextBox 6">
            <a:extLst>
              <a:ext uri="{FF2B5EF4-FFF2-40B4-BE49-F238E27FC236}">
                <a16:creationId xmlns:a16="http://schemas.microsoft.com/office/drawing/2014/main" id="{EAB0D7C3-6C38-9FF9-1B2B-B7E7E57C12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7344171"/>
              </p:ext>
            </p:extLst>
          </p:nvPr>
        </p:nvGraphicFramePr>
        <p:xfrm>
          <a:off x="930377" y="3238152"/>
          <a:ext cx="10331245" cy="2919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4814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22F60-7883-09FE-D658-74C7319F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Abstractive Summarization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82C91C-67DC-30CE-22FD-05C001059740}"/>
              </a:ext>
            </a:extLst>
          </p:cNvPr>
          <p:cNvSpPr txBox="1"/>
          <p:nvPr/>
        </p:nvSpPr>
        <p:spPr>
          <a:xfrm>
            <a:off x="838201" y="1690688"/>
            <a:ext cx="1051559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US" altLang="zh-CN" b="1" kern="1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What is Abstractive summarization?</a:t>
            </a:r>
            <a:endParaRPr lang="en-US" altLang="zh-CN" sz="1800" b="1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Abstractive summarization generates new sentences that paraphrase the original transcript.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Unlike extractive methods, the model can rewrite and compress information.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This approach is closer to how a human would summarize an earnings call.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TextBox 6">
            <a:extLst>
              <a:ext uri="{FF2B5EF4-FFF2-40B4-BE49-F238E27FC236}">
                <a16:creationId xmlns:a16="http://schemas.microsoft.com/office/drawing/2014/main" id="{765DF223-DA4C-5148-24CD-F727258CBD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663360"/>
              </p:ext>
            </p:extLst>
          </p:nvPr>
        </p:nvGraphicFramePr>
        <p:xfrm>
          <a:off x="718983" y="3016251"/>
          <a:ext cx="10754033" cy="41335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050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4DEBA2-B650-D49B-B684-BE84291B3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Takeaways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53C7BC4-B8C9-8918-CCB8-AFEA6BA11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028" y="2609936"/>
            <a:ext cx="9941319" cy="363411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extractive and abstractive methods are effective for earnings call summarization, but they focus on different goals.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TF-IDF and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TextRank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generate 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fact-faithful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summaries but tend to be verbose and less coherent.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Abstractive summarization with 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BART (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facebook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bart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-large-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produces 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shorter, more fluent, and narrative-style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summaries.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extractive summaries as inputs to BART helps balance 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faithfulness and readability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learned:</a:t>
            </a:r>
          </a:p>
          <a:p>
            <a:pPr marL="28575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baselines are essential and often surprisingly competitive.</a:t>
            </a:r>
          </a:p>
          <a:p>
            <a:pPr marL="28575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and input selection matter as much as the model itself.</a:t>
            </a:r>
          </a:p>
          <a:p>
            <a:pPr marL="28575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Abstractive models are powerful but require caution in fact-sensitive domains.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330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746BDA-A269-C763-C1CC-49CA8E52B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altLang="zh-CN" sz="4800"/>
              <a:t>Thank you</a:t>
            </a:r>
            <a:endParaRPr lang="zh-CN" alt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29622-CAD2-4112-B26A-38E063675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zh-CN" altLang="en-US" sz="240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682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2416</TotalTime>
  <Words>743</Words>
  <Application>Microsoft Office PowerPoint</Application>
  <PresentationFormat>Widescreen</PresentationFormat>
  <Paragraphs>78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Arial</vt:lpstr>
      <vt:lpstr>Times New Roman</vt:lpstr>
      <vt:lpstr>Office Theme</vt:lpstr>
      <vt:lpstr>Automatic Summarization of Corporate Earnings Call Transcripts</vt:lpstr>
      <vt:lpstr>Introduction</vt:lpstr>
      <vt:lpstr>Problem Being Studied</vt:lpstr>
      <vt:lpstr>Dataset Example: Apple’s Earnings Call (Recent Quarter)</vt:lpstr>
      <vt:lpstr>What Datasets Are You Using?</vt:lpstr>
      <vt:lpstr>Methodology: Extractive Summarization</vt:lpstr>
      <vt:lpstr>Methodology: Abstractive Summarization</vt:lpstr>
      <vt:lpstr>Main Takeaways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Sizhi Chen</dc:creator>
  <cp:lastModifiedBy>Sizhi Chen</cp:lastModifiedBy>
  <cp:revision>1</cp:revision>
  <dcterms:created xsi:type="dcterms:W3CDTF">2025-12-07T17:07:08Z</dcterms:created>
  <dcterms:modified xsi:type="dcterms:W3CDTF">2025-12-09T09:23:37Z</dcterms:modified>
</cp:coreProperties>
</file>